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73" r:id="rId5"/>
    <p:sldId id="259" r:id="rId6"/>
    <p:sldId id="275" r:id="rId7"/>
    <p:sldId id="270" r:id="rId8"/>
    <p:sldId id="260" r:id="rId9"/>
    <p:sldId id="269" r:id="rId10"/>
    <p:sldId id="261" r:id="rId11"/>
    <p:sldId id="262" r:id="rId12"/>
    <p:sldId id="263" r:id="rId13"/>
    <p:sldId id="264" r:id="rId14"/>
    <p:sldId id="267" r:id="rId15"/>
    <p:sldId id="265" r:id="rId16"/>
    <p:sldId id="266" r:id="rId17"/>
    <p:sldId id="274" r:id="rId18"/>
    <p:sldId id="271" r:id="rId19"/>
    <p:sldId id="272"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2/5/2026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2/5/2026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14D13-8465-AD1F-18A7-A51A11A64EBC}"/>
              </a:ext>
            </a:extLst>
          </p:cNvPr>
          <p:cNvSpPr>
            <a:spLocks noGrp="1"/>
          </p:cNvSpPr>
          <p:nvPr>
            <p:ph type="ctrTitle"/>
          </p:nvPr>
        </p:nvSpPr>
        <p:spPr>
          <a:xfrm>
            <a:off x="3962399" y="1964267"/>
            <a:ext cx="7197726" cy="1464733"/>
          </a:xfrm>
        </p:spPr>
        <p:txBody>
          <a:bodyPr/>
          <a:lstStyle/>
          <a:p>
            <a:r>
              <a:rPr lang="en-IN" dirty="0"/>
              <a:t>Amazon sales analysis</a:t>
            </a:r>
          </a:p>
        </p:txBody>
      </p:sp>
      <p:sp>
        <p:nvSpPr>
          <p:cNvPr id="3" name="Subtitle 2">
            <a:extLst>
              <a:ext uri="{FF2B5EF4-FFF2-40B4-BE49-F238E27FC236}">
                <a16:creationId xmlns:a16="http://schemas.microsoft.com/office/drawing/2014/main" id="{83ECB07F-38C7-A6BD-CF8E-390100E5B9B1}"/>
              </a:ext>
            </a:extLst>
          </p:cNvPr>
          <p:cNvSpPr>
            <a:spLocks noGrp="1"/>
          </p:cNvSpPr>
          <p:nvPr>
            <p:ph type="subTitle" idx="1"/>
          </p:nvPr>
        </p:nvSpPr>
        <p:spPr>
          <a:xfrm>
            <a:off x="3962399" y="3932904"/>
            <a:ext cx="7197726" cy="1858296"/>
          </a:xfrm>
        </p:spPr>
        <p:txBody>
          <a:bodyPr/>
          <a:lstStyle/>
          <a:p>
            <a:r>
              <a:rPr lang="en-IN" dirty="0"/>
              <a:t> presented by</a:t>
            </a:r>
          </a:p>
          <a:p>
            <a:r>
              <a:rPr lang="en-IN" dirty="0"/>
              <a:t>tamilbharathi</a:t>
            </a:r>
          </a:p>
          <a:p>
            <a:endParaRPr lang="en-IN" dirty="0"/>
          </a:p>
        </p:txBody>
      </p:sp>
    </p:spTree>
    <p:extLst>
      <p:ext uri="{BB962C8B-B14F-4D97-AF65-F5344CB8AC3E}">
        <p14:creationId xmlns:p14="http://schemas.microsoft.com/office/powerpoint/2010/main" val="718839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BA290-9D96-C4B8-6F3F-14CF8DD865EF}"/>
              </a:ext>
            </a:extLst>
          </p:cNvPr>
          <p:cNvSpPr>
            <a:spLocks noGrp="1"/>
          </p:cNvSpPr>
          <p:nvPr>
            <p:ph type="title"/>
          </p:nvPr>
        </p:nvSpPr>
        <p:spPr/>
        <p:txBody>
          <a:bodyPr/>
          <a:lstStyle/>
          <a:p>
            <a:r>
              <a:rPr lang="en-IN" b="1" dirty="0">
                <a:solidFill>
                  <a:schemeClr val="accent6"/>
                </a:solidFill>
              </a:rPr>
              <a:t>introduction</a:t>
            </a:r>
          </a:p>
        </p:txBody>
      </p:sp>
      <p:sp>
        <p:nvSpPr>
          <p:cNvPr id="3" name="Content Placeholder 2">
            <a:extLst>
              <a:ext uri="{FF2B5EF4-FFF2-40B4-BE49-F238E27FC236}">
                <a16:creationId xmlns:a16="http://schemas.microsoft.com/office/drawing/2014/main" id="{1C56EF68-3CBB-796C-6065-6F07D74B2A5B}"/>
              </a:ext>
            </a:extLst>
          </p:cNvPr>
          <p:cNvSpPr>
            <a:spLocks noGrp="1"/>
          </p:cNvSpPr>
          <p:nvPr>
            <p:ph idx="1"/>
          </p:nvPr>
        </p:nvSpPr>
        <p:spPr>
          <a:xfrm>
            <a:off x="685801" y="2065867"/>
            <a:ext cx="10131425" cy="4043988"/>
          </a:xfrm>
        </p:spPr>
        <p:txBody>
          <a:bodyPr>
            <a:normAutofit/>
          </a:bodyPr>
          <a:lstStyle/>
          <a:p>
            <a:pPr>
              <a:lnSpc>
                <a:spcPct val="150000"/>
              </a:lnSpc>
            </a:pPr>
            <a:r>
              <a:rPr lang="en-US" sz="2000" dirty="0"/>
              <a:t>Amazon is one of the world’s largest e-commerce platforms, generating massive amounts of sales data daily. Analyzing this data helps understand customer behavior, sales trends, top-performing products, and regional performance.</a:t>
            </a:r>
          </a:p>
          <a:p>
            <a:pPr>
              <a:lnSpc>
                <a:spcPct val="150000"/>
              </a:lnSpc>
            </a:pPr>
            <a:r>
              <a:rPr lang="en-US" sz="2000" dirty="0"/>
              <a:t>Power BI is a business intelligence and data visualization tool that transforms raw data into interactive dashboards and reports. It helps users explore data, identify insights, and make data-driven decisions quickly and effectively.</a:t>
            </a:r>
          </a:p>
          <a:p>
            <a:pPr>
              <a:lnSpc>
                <a:spcPct val="150000"/>
              </a:lnSpc>
            </a:pPr>
            <a:r>
              <a:rPr lang="en-US" altLang="en-US" sz="2000" dirty="0">
                <a:latin typeface="Calibri" panose="020F0502020204030204" pitchFamily="34" charset="0"/>
                <a:ea typeface="Calibri" panose="020F0502020204030204" pitchFamily="34" charset="0"/>
                <a:cs typeface="Calibri" panose="020F0502020204030204" pitchFamily="34" charset="0"/>
              </a:rPr>
              <a:t>A Power BI dashboard can simplify analysis and provide actionable insights.</a:t>
            </a:r>
          </a:p>
          <a:p>
            <a:pPr>
              <a:lnSpc>
                <a:spcPct val="150000"/>
              </a:lnSpc>
            </a:pPr>
            <a:endParaRPr lang="en-IN" sz="2000" dirty="0"/>
          </a:p>
        </p:txBody>
      </p:sp>
    </p:spTree>
    <p:extLst>
      <p:ext uri="{BB962C8B-B14F-4D97-AF65-F5344CB8AC3E}">
        <p14:creationId xmlns:p14="http://schemas.microsoft.com/office/powerpoint/2010/main" val="3403158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B5C07-6E4F-A33B-67FD-3781CB8C72D9}"/>
              </a:ext>
            </a:extLst>
          </p:cNvPr>
          <p:cNvSpPr>
            <a:spLocks noGrp="1"/>
          </p:cNvSpPr>
          <p:nvPr>
            <p:ph type="title"/>
          </p:nvPr>
        </p:nvSpPr>
        <p:spPr>
          <a:xfrm>
            <a:off x="685801" y="609601"/>
            <a:ext cx="10131425" cy="914399"/>
          </a:xfrm>
        </p:spPr>
        <p:txBody>
          <a:bodyPr/>
          <a:lstStyle/>
          <a:p>
            <a:r>
              <a:rPr lang="en-IN" b="1" dirty="0">
                <a:solidFill>
                  <a:schemeClr val="accent6"/>
                </a:solidFill>
              </a:rPr>
              <a:t>Problem statement</a:t>
            </a:r>
          </a:p>
        </p:txBody>
      </p:sp>
      <p:sp>
        <p:nvSpPr>
          <p:cNvPr id="4" name="Rectangle 1">
            <a:extLst>
              <a:ext uri="{FF2B5EF4-FFF2-40B4-BE49-F238E27FC236}">
                <a16:creationId xmlns:a16="http://schemas.microsoft.com/office/drawing/2014/main" id="{27D91723-7E5C-BBD5-08E2-9CDEA9A7D55C}"/>
              </a:ext>
            </a:extLst>
          </p:cNvPr>
          <p:cNvSpPr>
            <a:spLocks noGrp="1" noChangeArrowheads="1"/>
          </p:cNvSpPr>
          <p:nvPr>
            <p:ph idx="1"/>
          </p:nvPr>
        </p:nvSpPr>
        <p:spPr bwMode="auto">
          <a:xfrm>
            <a:off x="570271" y="1915897"/>
            <a:ext cx="10923640" cy="3728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lnSpc>
                <a:spcPct val="150000"/>
              </a:lnSpc>
              <a:spcBef>
                <a:spcPct val="0"/>
              </a:spcBef>
              <a:spcAft>
                <a:spcPct val="0"/>
              </a:spcAft>
              <a:buClrTx/>
              <a:buSzTx/>
              <a:buFont typeface="Wingdings" panose="05000000000000000000" pitchFamily="2" charset="2"/>
              <a:buChar char="v"/>
            </a:pPr>
            <a:r>
              <a:rPr lang="en-IN" sz="2000" dirty="0"/>
              <a:t>Amazon sales data is large and complex, making it difficult to analyse sales performance and identify meaningful patterns using traditional methods.</a:t>
            </a:r>
          </a:p>
          <a:p>
            <a:pPr algn="just" defTabSz="914400" eaLnBrk="0" fontAlgn="base" hangingPunct="0">
              <a:lnSpc>
                <a:spcPct val="150000"/>
              </a:lnSpc>
              <a:spcBef>
                <a:spcPct val="0"/>
              </a:spcBef>
              <a:spcAft>
                <a:spcPct val="0"/>
              </a:spcAft>
              <a:buClrTx/>
              <a:buSzTx/>
              <a:buFont typeface="Wingdings" panose="05000000000000000000" pitchFamily="2" charset="2"/>
              <a:buChar char="v"/>
            </a:pPr>
            <a:r>
              <a:rPr lang="en-IN" sz="2000" dirty="0"/>
              <a:t> Without proper visualization and analysis, it becomes challenging to track sales trends, evaluate product performance, and make informed business decisions. </a:t>
            </a:r>
          </a:p>
          <a:p>
            <a:pPr algn="just" defTabSz="914400" eaLnBrk="0" fontAlgn="base" hangingPunct="0">
              <a:lnSpc>
                <a:spcPct val="150000"/>
              </a:lnSpc>
              <a:spcBef>
                <a:spcPct val="0"/>
              </a:spcBef>
              <a:spcAft>
                <a:spcPct val="0"/>
              </a:spcAft>
              <a:buClrTx/>
              <a:buSzTx/>
              <a:buFont typeface="Wingdings" panose="05000000000000000000" pitchFamily="2" charset="2"/>
              <a:buChar char="v"/>
            </a:pPr>
            <a:r>
              <a:rPr lang="en-IN" sz="2000" dirty="0"/>
              <a:t>This project aims to address this problem by developing an Amazon Sales Analysis Dashboard using Power BI that converts raw sales data into interactive and insightful visualizations for effective analysis and decision-making.</a:t>
            </a:r>
          </a:p>
          <a:p>
            <a:pPr lvl="8" algn="just" defTabSz="914400" eaLnBrk="0" fontAlgn="base" hangingPunct="0">
              <a:lnSpc>
                <a:spcPct val="150000"/>
              </a:lnSpc>
              <a:spcBef>
                <a:spcPct val="0"/>
              </a:spcBef>
              <a:spcAft>
                <a:spcPct val="0"/>
              </a:spcAft>
              <a:buClrTx/>
              <a:buSzTx/>
              <a:buFont typeface="Wingdings" panose="05000000000000000000" pitchFamily="2" charset="2"/>
              <a:buChar char="v"/>
            </a:pPr>
            <a:endParaRPr kumimoji="0" lang="en-US" altLang="en-US" sz="20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29999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4A3D9-007F-8837-A7AA-F8573AF47855}"/>
              </a:ext>
            </a:extLst>
          </p:cNvPr>
          <p:cNvSpPr>
            <a:spLocks noGrp="1"/>
          </p:cNvSpPr>
          <p:nvPr>
            <p:ph type="title"/>
          </p:nvPr>
        </p:nvSpPr>
        <p:spPr/>
        <p:txBody>
          <a:bodyPr/>
          <a:lstStyle/>
          <a:p>
            <a:r>
              <a:rPr lang="en-IN" b="1" dirty="0">
                <a:solidFill>
                  <a:schemeClr val="accent6"/>
                </a:solidFill>
              </a:rPr>
              <a:t>questions</a:t>
            </a:r>
          </a:p>
        </p:txBody>
      </p:sp>
      <p:sp>
        <p:nvSpPr>
          <p:cNvPr id="4" name="TextBox 3">
            <a:extLst>
              <a:ext uri="{FF2B5EF4-FFF2-40B4-BE49-F238E27FC236}">
                <a16:creationId xmlns:a16="http://schemas.microsoft.com/office/drawing/2014/main" id="{F55EB5E6-DC6C-F60D-8D04-D113699DB55E}"/>
              </a:ext>
            </a:extLst>
          </p:cNvPr>
          <p:cNvSpPr txBox="1"/>
          <p:nvPr/>
        </p:nvSpPr>
        <p:spPr>
          <a:xfrm>
            <a:off x="776748" y="1970449"/>
            <a:ext cx="8367252" cy="3996159"/>
          </a:xfrm>
          <a:prstGeom prst="rect">
            <a:avLst/>
          </a:prstGeom>
          <a:noFill/>
        </p:spPr>
        <p:txBody>
          <a:bodyPr wrap="square">
            <a:spAutoFit/>
          </a:bodyPr>
          <a:lstStyle/>
          <a:p>
            <a:pPr marL="342900" lvl="0" indent="-342900">
              <a:buFont typeface="+mj-lt"/>
              <a:buAutoNum type="arabicParenR"/>
            </a:pPr>
            <a:r>
              <a:rPr lang="en-IN" dirty="0"/>
              <a:t>How is our overall sales performance trending over time, and are there identifiable peak periods or seasonal patterns?</a:t>
            </a:r>
          </a:p>
          <a:p>
            <a:pPr marL="342900" lvl="0" indent="-342900">
              <a:buFont typeface="+mj-lt"/>
              <a:buAutoNum type="arabicParenR"/>
            </a:pPr>
            <a:r>
              <a:rPr lang="en-IN" dirty="0"/>
              <a:t>Which product categories are driving the highest revenue, and which category is top performing.</a:t>
            </a:r>
          </a:p>
          <a:p>
            <a:pPr marL="342900" lvl="0" indent="-342900">
              <a:buFont typeface="+mj-lt"/>
              <a:buAutoNum type="arabicParenR"/>
            </a:pPr>
            <a:r>
              <a:rPr lang="en-IN" dirty="0"/>
              <a:t>Which individual products are our top performers.</a:t>
            </a:r>
          </a:p>
          <a:p>
            <a:pPr marL="342900" lvl="0" indent="-342900">
              <a:buFont typeface="+mj-lt"/>
              <a:buAutoNum type="arabicParenR"/>
            </a:pPr>
            <a:r>
              <a:rPr lang="en-IN" dirty="0"/>
              <a:t>How does sales performance vary across different cities, and which regions present opportunities for growth?</a:t>
            </a:r>
          </a:p>
          <a:p>
            <a:pPr marL="342900" lvl="0" indent="-342900">
              <a:buFont typeface="+mj-lt"/>
              <a:buAutoNum type="arabicParenR"/>
            </a:pPr>
            <a:r>
              <a:rPr lang="en-IN" dirty="0"/>
              <a:t>What is the distribution of orders by city, and how can we optimize logistics and delivery operations accordingly?</a:t>
            </a:r>
          </a:p>
          <a:p>
            <a:pPr marL="342900" lvl="0" indent="-342900">
              <a:buFont typeface="+mj-lt"/>
              <a:buAutoNum type="arabicParenR"/>
            </a:pPr>
            <a:r>
              <a:rPr lang="en-IN" dirty="0"/>
              <a:t>How are month-to-month sales changing, and what factors are contributing to growth or decline?</a:t>
            </a:r>
          </a:p>
          <a:p>
            <a:pPr marL="342900" lvl="0" indent="-342900">
              <a:buFont typeface="+mj-lt"/>
              <a:buAutoNum type="arabicParenR"/>
            </a:pPr>
            <a:r>
              <a:rPr lang="en-IN" dirty="0"/>
              <a:t>What payment methods do our customers prefer, and how can this inform payment strategy and customer experience improvements?</a:t>
            </a:r>
          </a:p>
          <a:p>
            <a:pPr>
              <a:lnSpc>
                <a:spcPct val="115000"/>
              </a:lnSpc>
              <a:spcAft>
                <a:spcPts val="800"/>
              </a:spcAft>
              <a:buNone/>
              <a:tabLst>
                <a:tab pos="1173480" algn="l"/>
              </a:tabLst>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606587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B55C9-BA25-8016-975A-36933EB7C3E8}"/>
              </a:ext>
            </a:extLst>
          </p:cNvPr>
          <p:cNvSpPr>
            <a:spLocks noGrp="1"/>
          </p:cNvSpPr>
          <p:nvPr>
            <p:ph type="title"/>
          </p:nvPr>
        </p:nvSpPr>
        <p:spPr>
          <a:xfrm>
            <a:off x="685801" y="672695"/>
            <a:ext cx="10131425" cy="831639"/>
          </a:xfrm>
        </p:spPr>
        <p:txBody>
          <a:bodyPr/>
          <a:lstStyle/>
          <a:p>
            <a:r>
              <a:rPr lang="en-IN" b="1" dirty="0">
                <a:solidFill>
                  <a:schemeClr val="accent6"/>
                </a:solidFill>
              </a:rPr>
              <a:t>Data overview</a:t>
            </a:r>
          </a:p>
        </p:txBody>
      </p:sp>
      <p:sp>
        <p:nvSpPr>
          <p:cNvPr id="4" name="Rectangle 1">
            <a:extLst>
              <a:ext uri="{FF2B5EF4-FFF2-40B4-BE49-F238E27FC236}">
                <a16:creationId xmlns:a16="http://schemas.microsoft.com/office/drawing/2014/main" id="{53826F14-4C82-4F88-3BB9-466E413131BB}"/>
              </a:ext>
            </a:extLst>
          </p:cNvPr>
          <p:cNvSpPr>
            <a:spLocks noGrp="1" noChangeArrowheads="1"/>
          </p:cNvSpPr>
          <p:nvPr>
            <p:ph idx="1"/>
          </p:nvPr>
        </p:nvSpPr>
        <p:spPr bwMode="auto">
          <a:xfrm>
            <a:off x="685801" y="1062364"/>
            <a:ext cx="9065302" cy="5122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000" b="0" i="0" u="none" strike="noStrike" cap="none" normalizeH="0" baseline="0" dirty="0">
                <a:ln>
                  <a:noFill/>
                </a:ln>
                <a:solidFill>
                  <a:schemeClr val="tx1"/>
                </a:solidFill>
                <a:effectLst/>
              </a:rPr>
              <a:t>Data Fields:</a:t>
            </a:r>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rPr>
              <a:t>Order ID</a:t>
            </a:r>
            <a:endParaRPr lang="en-US" altLang="en-US" sz="2000" dirty="0"/>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rPr>
              <a:t>Product Name &amp; Category</a:t>
            </a:r>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sz="2000" dirty="0"/>
              <a:t>Product ID</a:t>
            </a:r>
            <a:endParaRPr kumimoji="0" lang="en-US" altLang="en-US" sz="2000" b="0" i="0" u="none" strike="noStrike" cap="none" normalizeH="0" baseline="0" dirty="0">
              <a:ln>
                <a:noFill/>
              </a:ln>
              <a:solidFill>
                <a:schemeClr val="tx1"/>
              </a:solidFill>
              <a:effectLst/>
            </a:endParaRPr>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rPr>
              <a:t>Units Sold &amp; Quantity</a:t>
            </a:r>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sz="2000" dirty="0"/>
              <a:t>Amount</a:t>
            </a:r>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rPr>
              <a:t>Order Date</a:t>
            </a:r>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rPr>
              <a:t>Customer Location</a:t>
            </a:r>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rPr>
              <a:t>City ID</a:t>
            </a:r>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sz="2000" dirty="0"/>
              <a:t>Payment method</a:t>
            </a:r>
            <a:endParaRPr kumimoji="0" lang="en-US" altLang="en-US" sz="2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293276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24BCF-35F3-ECC5-0AA7-9412F817C0B3}"/>
              </a:ext>
            </a:extLst>
          </p:cNvPr>
          <p:cNvSpPr>
            <a:spLocks noGrp="1"/>
          </p:cNvSpPr>
          <p:nvPr>
            <p:ph type="title"/>
          </p:nvPr>
        </p:nvSpPr>
        <p:spPr>
          <a:xfrm>
            <a:off x="685801" y="609600"/>
            <a:ext cx="10131425" cy="481781"/>
          </a:xfrm>
        </p:spPr>
        <p:txBody>
          <a:bodyPr>
            <a:normAutofit fontScale="90000"/>
          </a:bodyPr>
          <a:lstStyle/>
          <a:p>
            <a:r>
              <a:rPr lang="en-IN" dirty="0">
                <a:solidFill>
                  <a:schemeClr val="accent6"/>
                </a:solidFill>
              </a:rPr>
              <a:t>Technology used</a:t>
            </a:r>
          </a:p>
        </p:txBody>
      </p:sp>
      <p:sp>
        <p:nvSpPr>
          <p:cNvPr id="4" name="TextBox 3">
            <a:extLst>
              <a:ext uri="{FF2B5EF4-FFF2-40B4-BE49-F238E27FC236}">
                <a16:creationId xmlns:a16="http://schemas.microsoft.com/office/drawing/2014/main" id="{3E2183DE-6208-8DFD-522C-225738EA728A}"/>
              </a:ext>
            </a:extLst>
          </p:cNvPr>
          <p:cNvSpPr txBox="1"/>
          <p:nvPr/>
        </p:nvSpPr>
        <p:spPr>
          <a:xfrm>
            <a:off x="521110" y="963561"/>
            <a:ext cx="9271819" cy="5450851"/>
          </a:xfrm>
          <a:prstGeom prst="rect">
            <a:avLst/>
          </a:prstGeom>
          <a:noFill/>
        </p:spPr>
        <p:txBody>
          <a:bodyPr wrap="square">
            <a:spAutoFit/>
          </a:bodyPr>
          <a:lstStyle/>
          <a:p>
            <a:pPr>
              <a:lnSpc>
                <a:spcPct val="150000"/>
              </a:lnSpc>
              <a:buNone/>
            </a:pPr>
            <a:endParaRPr lang="en-US" b="1" dirty="0"/>
          </a:p>
          <a:p>
            <a:pPr>
              <a:lnSpc>
                <a:spcPct val="150000"/>
              </a:lnSpc>
              <a:buFont typeface="+mj-lt"/>
              <a:buAutoNum type="arabicPeriod"/>
            </a:pPr>
            <a:r>
              <a:rPr lang="en-US" b="1" dirty="0"/>
              <a:t>Data Source:</a:t>
            </a:r>
            <a:endParaRPr lang="en-US" dirty="0"/>
          </a:p>
          <a:p>
            <a:pPr marL="742950" lvl="1" indent="-285750">
              <a:lnSpc>
                <a:spcPct val="150000"/>
              </a:lnSpc>
              <a:buFont typeface="+mj-lt"/>
              <a:buAutoNum type="arabicPeriod"/>
            </a:pPr>
            <a:r>
              <a:rPr lang="en-US" dirty="0"/>
              <a:t>Amazon Sales Dataset (Excel file)</a:t>
            </a:r>
          </a:p>
          <a:p>
            <a:pPr>
              <a:lnSpc>
                <a:spcPct val="150000"/>
              </a:lnSpc>
              <a:buFont typeface="+mj-lt"/>
              <a:buAutoNum type="arabicPeriod"/>
            </a:pPr>
            <a:r>
              <a:rPr lang="en-US" b="1" dirty="0"/>
              <a:t>Data Preparation &amp; Transformation (ETL):</a:t>
            </a:r>
            <a:endParaRPr lang="en-US" dirty="0"/>
          </a:p>
          <a:p>
            <a:pPr marL="742950" lvl="1" indent="-285750">
              <a:lnSpc>
                <a:spcPct val="150000"/>
              </a:lnSpc>
              <a:buFont typeface="+mj-lt"/>
              <a:buAutoNum type="arabicPeriod"/>
            </a:pPr>
            <a:r>
              <a:rPr lang="en-US" b="1" dirty="0"/>
              <a:t>Power Query:</a:t>
            </a:r>
            <a:r>
              <a:rPr lang="en-US" dirty="0"/>
              <a:t> To clean, transform, and structure data</a:t>
            </a:r>
          </a:p>
          <a:p>
            <a:pPr marL="742950" lvl="1" indent="-285750">
              <a:lnSpc>
                <a:spcPct val="150000"/>
              </a:lnSpc>
              <a:buFont typeface="+mj-lt"/>
              <a:buAutoNum type="arabicPeriod"/>
            </a:pPr>
            <a:r>
              <a:rPr lang="en-US" b="1" dirty="0"/>
              <a:t>Data Modeling:</a:t>
            </a:r>
            <a:r>
              <a:rPr lang="en-US" dirty="0"/>
              <a:t> Creating tables like Calendar, Product, City, and linking relationship.</a:t>
            </a:r>
          </a:p>
          <a:p>
            <a:pPr>
              <a:lnSpc>
                <a:spcPct val="150000"/>
              </a:lnSpc>
              <a:buFont typeface="+mj-lt"/>
              <a:buAutoNum type="arabicPeriod"/>
            </a:pPr>
            <a:r>
              <a:rPr lang="en-US" b="1" dirty="0"/>
              <a:t>Data Analysis &amp; Visualization:</a:t>
            </a:r>
            <a:endParaRPr lang="en-US" dirty="0"/>
          </a:p>
          <a:p>
            <a:pPr marL="742950" lvl="1" indent="-285750">
              <a:lnSpc>
                <a:spcPct val="150000"/>
              </a:lnSpc>
              <a:buFont typeface="+mj-lt"/>
              <a:buAutoNum type="arabicPeriod"/>
            </a:pPr>
            <a:r>
              <a:rPr lang="en-US" b="1" dirty="0"/>
              <a:t>Power BI :</a:t>
            </a:r>
            <a:endParaRPr lang="en-US" dirty="0"/>
          </a:p>
          <a:p>
            <a:pPr marL="1143000" lvl="2" indent="-228600">
              <a:lnSpc>
                <a:spcPct val="150000"/>
              </a:lnSpc>
              <a:buFont typeface="+mj-lt"/>
              <a:buAutoNum type="arabicPeriod"/>
            </a:pPr>
            <a:r>
              <a:rPr lang="en-US" dirty="0"/>
              <a:t>Charts: Area chart, Bar chart, Column chart, Stacked area chart, Donut chart.</a:t>
            </a:r>
          </a:p>
          <a:p>
            <a:pPr marL="1143000" lvl="2" indent="-228600">
              <a:lnSpc>
                <a:spcPct val="150000"/>
              </a:lnSpc>
              <a:buFont typeface="+mj-lt"/>
              <a:buAutoNum type="arabicPeriod"/>
            </a:pPr>
            <a:r>
              <a:rPr lang="en-US" dirty="0"/>
              <a:t>Measures using DAX.</a:t>
            </a:r>
          </a:p>
          <a:p>
            <a:pPr>
              <a:lnSpc>
                <a:spcPct val="150000"/>
              </a:lnSpc>
              <a:buFont typeface="+mj-lt"/>
              <a:buAutoNum type="arabicPeriod"/>
            </a:pPr>
            <a:r>
              <a:rPr lang="en-US" b="1" dirty="0"/>
              <a:t>Data Insights &amp; Reporting:</a:t>
            </a:r>
            <a:endParaRPr lang="en-US" dirty="0"/>
          </a:p>
          <a:p>
            <a:pPr marL="742950" lvl="1" indent="-285750">
              <a:lnSpc>
                <a:spcPct val="150000"/>
              </a:lnSpc>
              <a:buFont typeface="+mj-lt"/>
              <a:buAutoNum type="arabicPeriod"/>
            </a:pPr>
            <a:r>
              <a:rPr lang="en-US" b="1" dirty="0"/>
              <a:t>Power BI Dashboard:</a:t>
            </a:r>
            <a:r>
              <a:rPr lang="en-US" dirty="0"/>
              <a:t> Interactive visualizations for executives</a:t>
            </a:r>
          </a:p>
          <a:p>
            <a:pPr marL="742950" lvl="1" indent="-285750">
              <a:lnSpc>
                <a:spcPct val="150000"/>
              </a:lnSpc>
              <a:buFont typeface="+mj-lt"/>
              <a:buAutoNum type="arabicPeriod"/>
            </a:pPr>
            <a:r>
              <a:rPr lang="en-US" b="1" dirty="0"/>
              <a:t>Filters &amp; Slicers:</a:t>
            </a:r>
            <a:r>
              <a:rPr lang="en-US" dirty="0"/>
              <a:t> To analyze sales by category, product, city, month, and payment method</a:t>
            </a:r>
          </a:p>
        </p:txBody>
      </p:sp>
    </p:spTree>
    <p:extLst>
      <p:ext uri="{BB962C8B-B14F-4D97-AF65-F5344CB8AC3E}">
        <p14:creationId xmlns:p14="http://schemas.microsoft.com/office/powerpoint/2010/main" val="2249997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A4B7B-4BA2-73C2-5480-F9414493868A}"/>
              </a:ext>
            </a:extLst>
          </p:cNvPr>
          <p:cNvSpPr>
            <a:spLocks noGrp="1"/>
          </p:cNvSpPr>
          <p:nvPr>
            <p:ph type="title"/>
          </p:nvPr>
        </p:nvSpPr>
        <p:spPr>
          <a:xfrm>
            <a:off x="685801" y="206478"/>
            <a:ext cx="10131425" cy="914399"/>
          </a:xfrm>
        </p:spPr>
        <p:txBody>
          <a:bodyPr/>
          <a:lstStyle/>
          <a:p>
            <a:r>
              <a:rPr lang="en-IN" b="1" dirty="0">
                <a:solidFill>
                  <a:schemeClr val="accent6"/>
                </a:solidFill>
              </a:rPr>
              <a:t>Data preprocessing</a:t>
            </a:r>
          </a:p>
        </p:txBody>
      </p:sp>
      <p:sp>
        <p:nvSpPr>
          <p:cNvPr id="3" name="Content Placeholder 2">
            <a:extLst>
              <a:ext uri="{FF2B5EF4-FFF2-40B4-BE49-F238E27FC236}">
                <a16:creationId xmlns:a16="http://schemas.microsoft.com/office/drawing/2014/main" id="{76321334-9A6D-3B2B-6AF9-B38864536ED5}"/>
              </a:ext>
            </a:extLst>
          </p:cNvPr>
          <p:cNvSpPr>
            <a:spLocks noGrp="1"/>
          </p:cNvSpPr>
          <p:nvPr>
            <p:ph idx="1"/>
          </p:nvPr>
        </p:nvSpPr>
        <p:spPr>
          <a:xfrm>
            <a:off x="685801" y="1002890"/>
            <a:ext cx="10307781" cy="5525729"/>
          </a:xfrm>
        </p:spPr>
        <p:txBody>
          <a:bodyPr>
            <a:normAutofit fontScale="92500" lnSpcReduction="10000"/>
          </a:bodyPr>
          <a:lstStyle/>
          <a:p>
            <a:pPr>
              <a:lnSpc>
                <a:spcPct val="150000"/>
              </a:lnSpc>
            </a:pPr>
            <a:r>
              <a:rPr lang="en-IN" sz="2000" dirty="0"/>
              <a:t>The Best Tool For Cleaning And Preprocessing The Data Is Called As Power Query Editor.</a:t>
            </a:r>
          </a:p>
          <a:p>
            <a:pPr>
              <a:lnSpc>
                <a:spcPct val="150000"/>
              </a:lnSpc>
            </a:pPr>
            <a:r>
              <a:rPr lang="en-IN" sz="2000" dirty="0"/>
              <a:t>It Is Used For Extracting The Data, Transforming The Data And Loading Into Power Bi.</a:t>
            </a:r>
          </a:p>
          <a:p>
            <a:pPr marL="0" indent="0">
              <a:lnSpc>
                <a:spcPct val="150000"/>
              </a:lnSpc>
              <a:buNone/>
            </a:pPr>
            <a:r>
              <a:rPr lang="en-US" altLang="en-US" sz="2000" b="1" dirty="0">
                <a:solidFill>
                  <a:schemeClr val="accent6"/>
                </a:solidFill>
              </a:rPr>
              <a:t>Data Cleaning steps :</a:t>
            </a:r>
          </a:p>
          <a:p>
            <a:pPr marL="457200" indent="-457200">
              <a:lnSpc>
                <a:spcPct val="150000"/>
              </a:lnSpc>
              <a:buFont typeface="+mj-lt"/>
              <a:buAutoNum type="arabicPeriod"/>
            </a:pPr>
            <a:r>
              <a:rPr lang="en-US" altLang="en-US" sz="2000" dirty="0"/>
              <a:t>Changing the data type of order ID from number to text.</a:t>
            </a:r>
          </a:p>
          <a:p>
            <a:pPr marL="457200" indent="-457200">
              <a:lnSpc>
                <a:spcPct val="150000"/>
              </a:lnSpc>
              <a:buFont typeface="+mj-lt"/>
              <a:buAutoNum type="arabicPeriod"/>
            </a:pPr>
            <a:r>
              <a:rPr lang="en-US" altLang="en-US" sz="2000" dirty="0"/>
              <a:t>Append the two  year(2024,2025) data into one using append queries.</a:t>
            </a:r>
          </a:p>
          <a:p>
            <a:pPr marL="457200" indent="-457200">
              <a:lnSpc>
                <a:spcPct val="150000"/>
              </a:lnSpc>
              <a:buFont typeface="+mj-lt"/>
              <a:buAutoNum type="arabicPeriod"/>
            </a:pPr>
            <a:r>
              <a:rPr lang="en-US" altLang="en-US" sz="2000" dirty="0"/>
              <a:t>Extract month, month name, day and year from order date. </a:t>
            </a:r>
          </a:p>
          <a:p>
            <a:pPr marL="457200" indent="-457200">
              <a:lnSpc>
                <a:spcPct val="150000"/>
              </a:lnSpc>
              <a:buFont typeface="+mj-lt"/>
              <a:buAutoNum type="arabicPeriod"/>
            </a:pPr>
            <a:r>
              <a:rPr lang="en-US" altLang="en-US" sz="2000" dirty="0"/>
              <a:t>Segregate the product column and product ID and creating a separate table.</a:t>
            </a:r>
          </a:p>
          <a:p>
            <a:pPr marL="457200" indent="-457200">
              <a:lnSpc>
                <a:spcPct val="150000"/>
              </a:lnSpc>
              <a:buFont typeface="+mj-lt"/>
              <a:buAutoNum type="arabicPeriod"/>
            </a:pPr>
            <a:r>
              <a:rPr lang="en-US" altLang="en-US" sz="2000" dirty="0"/>
              <a:t>Segregate the city column and city ID for creating a city table.</a:t>
            </a:r>
          </a:p>
          <a:p>
            <a:pPr marL="457200" indent="-457200">
              <a:lnSpc>
                <a:spcPct val="150000"/>
              </a:lnSpc>
              <a:buFont typeface="+mj-lt"/>
              <a:buAutoNum type="arabicPeriod"/>
            </a:pPr>
            <a:r>
              <a:rPr lang="en-US" altLang="en-US" sz="2000" dirty="0"/>
              <a:t>Removing the duplicate values.</a:t>
            </a:r>
          </a:p>
          <a:p>
            <a:pPr marL="0" indent="0">
              <a:lnSpc>
                <a:spcPct val="150000"/>
              </a:lnSpc>
              <a:buNone/>
            </a:pPr>
            <a:r>
              <a:rPr lang="en-IN" sz="2000" dirty="0"/>
              <a:t> </a:t>
            </a:r>
          </a:p>
        </p:txBody>
      </p:sp>
    </p:spTree>
    <p:extLst>
      <p:ext uri="{BB962C8B-B14F-4D97-AF65-F5344CB8AC3E}">
        <p14:creationId xmlns:p14="http://schemas.microsoft.com/office/powerpoint/2010/main" val="1652833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A8EB8-3DB9-CDB0-96B6-C48AD974ED32}"/>
              </a:ext>
            </a:extLst>
          </p:cNvPr>
          <p:cNvSpPr>
            <a:spLocks noGrp="1"/>
          </p:cNvSpPr>
          <p:nvPr>
            <p:ph type="title"/>
          </p:nvPr>
        </p:nvSpPr>
        <p:spPr>
          <a:xfrm>
            <a:off x="685801" y="322118"/>
            <a:ext cx="4987635" cy="802433"/>
          </a:xfrm>
        </p:spPr>
        <p:txBody>
          <a:bodyPr>
            <a:normAutofit/>
          </a:bodyPr>
          <a:lstStyle/>
          <a:p>
            <a:r>
              <a:rPr lang="en-IN" b="1" dirty="0">
                <a:solidFill>
                  <a:schemeClr val="accent6"/>
                </a:solidFill>
              </a:rPr>
              <a:t>Key metrics and </a:t>
            </a:r>
            <a:r>
              <a:rPr lang="en-IN" b="1" dirty="0" err="1">
                <a:solidFill>
                  <a:schemeClr val="accent6"/>
                </a:solidFill>
              </a:rPr>
              <a:t>kpi</a:t>
            </a:r>
            <a:r>
              <a:rPr lang="en-IN" b="1" dirty="0">
                <a:solidFill>
                  <a:schemeClr val="accent6"/>
                </a:solidFill>
              </a:rPr>
              <a:t>’ s</a:t>
            </a:r>
          </a:p>
        </p:txBody>
      </p:sp>
      <p:sp>
        <p:nvSpPr>
          <p:cNvPr id="10" name="Content Placeholder 9">
            <a:extLst>
              <a:ext uri="{FF2B5EF4-FFF2-40B4-BE49-F238E27FC236}">
                <a16:creationId xmlns:a16="http://schemas.microsoft.com/office/drawing/2014/main" id="{38C27251-E0F3-8134-754E-863D99F8D679}"/>
              </a:ext>
            </a:extLst>
          </p:cNvPr>
          <p:cNvSpPr>
            <a:spLocks noGrp="1"/>
          </p:cNvSpPr>
          <p:nvPr>
            <p:ph idx="1"/>
          </p:nvPr>
        </p:nvSpPr>
        <p:spPr>
          <a:xfrm>
            <a:off x="685801" y="1124551"/>
            <a:ext cx="10131425" cy="3958726"/>
          </a:xfrm>
        </p:spPr>
        <p:txBody>
          <a:bodyPr>
            <a:normAutofit/>
          </a:bodyPr>
          <a:lstStyle/>
          <a:p>
            <a:pPr algn="just"/>
            <a:r>
              <a:rPr lang="en-US" sz="1900" dirty="0"/>
              <a:t> Total Sales: $216M</a:t>
            </a:r>
          </a:p>
          <a:p>
            <a:pPr algn="just"/>
            <a:r>
              <a:rPr lang="en-US" sz="1900" dirty="0"/>
              <a:t> Total Orders: 2K</a:t>
            </a:r>
          </a:p>
          <a:p>
            <a:pPr algn="just"/>
            <a:r>
              <a:rPr lang="en-US" sz="1900" dirty="0"/>
              <a:t> Total Quantity Sold: 7K</a:t>
            </a:r>
          </a:p>
          <a:p>
            <a:pPr algn="just"/>
            <a:endParaRPr lang="en-US" sz="1900" dirty="0"/>
          </a:p>
          <a:p>
            <a:pPr algn="just"/>
            <a:r>
              <a:rPr lang="en-US" sz="1900" dirty="0"/>
              <a:t>These KPIs give a quick snapshot of business performance.</a:t>
            </a:r>
            <a:endParaRPr lang="en-IN" sz="1900" dirty="0"/>
          </a:p>
        </p:txBody>
      </p:sp>
    </p:spTree>
    <p:extLst>
      <p:ext uri="{BB962C8B-B14F-4D97-AF65-F5344CB8AC3E}">
        <p14:creationId xmlns:p14="http://schemas.microsoft.com/office/powerpoint/2010/main" val="3851420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8B908-21D9-D76D-223C-FD2859171939}"/>
              </a:ext>
            </a:extLst>
          </p:cNvPr>
          <p:cNvSpPr>
            <a:spLocks noGrp="1"/>
          </p:cNvSpPr>
          <p:nvPr>
            <p:ph type="title"/>
          </p:nvPr>
        </p:nvSpPr>
        <p:spPr>
          <a:xfrm>
            <a:off x="685801" y="488373"/>
            <a:ext cx="10131425" cy="524350"/>
          </a:xfrm>
        </p:spPr>
        <p:txBody>
          <a:bodyPr>
            <a:normAutofit fontScale="90000"/>
          </a:bodyPr>
          <a:lstStyle/>
          <a:p>
            <a:r>
              <a:rPr lang="en-IN" dirty="0">
                <a:solidFill>
                  <a:srgbClr val="FF0000"/>
                </a:solidFill>
              </a:rPr>
              <a:t>Dax Measures used</a:t>
            </a:r>
          </a:p>
        </p:txBody>
      </p:sp>
      <p:sp>
        <p:nvSpPr>
          <p:cNvPr id="3" name="Content Placeholder 2">
            <a:extLst>
              <a:ext uri="{FF2B5EF4-FFF2-40B4-BE49-F238E27FC236}">
                <a16:creationId xmlns:a16="http://schemas.microsoft.com/office/drawing/2014/main" id="{58B58854-CDA0-167A-261D-C1660E3F74E0}"/>
              </a:ext>
            </a:extLst>
          </p:cNvPr>
          <p:cNvSpPr>
            <a:spLocks noGrp="1"/>
          </p:cNvSpPr>
          <p:nvPr>
            <p:ph idx="1"/>
          </p:nvPr>
        </p:nvSpPr>
        <p:spPr>
          <a:xfrm>
            <a:off x="685801" y="1140542"/>
            <a:ext cx="10581967" cy="5004619"/>
          </a:xfrm>
        </p:spPr>
        <p:txBody>
          <a:bodyPr>
            <a:normAutofit lnSpcReduction="10000"/>
          </a:bodyPr>
          <a:lstStyle/>
          <a:p>
            <a:pPr>
              <a:lnSpc>
                <a:spcPct val="150000"/>
              </a:lnSpc>
            </a:pPr>
            <a:endParaRPr lang="en-US" dirty="0"/>
          </a:p>
          <a:p>
            <a:pPr>
              <a:lnSpc>
                <a:spcPct val="150000"/>
              </a:lnSpc>
            </a:pPr>
            <a:endParaRPr lang="en-US" dirty="0"/>
          </a:p>
          <a:p>
            <a:pPr>
              <a:lnSpc>
                <a:spcPct val="150000"/>
              </a:lnSpc>
            </a:pPr>
            <a:r>
              <a:rPr lang="en-US" sz="2000" dirty="0"/>
              <a:t>Dax is called as Data Analytic Expression.</a:t>
            </a:r>
          </a:p>
          <a:p>
            <a:pPr>
              <a:lnSpc>
                <a:spcPct val="150000"/>
              </a:lnSpc>
            </a:pPr>
            <a:r>
              <a:rPr lang="en-US" sz="1900" dirty="0"/>
              <a:t>DAX is a formula language used in Power BI.</a:t>
            </a:r>
          </a:p>
          <a:p>
            <a:pPr>
              <a:lnSpc>
                <a:spcPct val="150000"/>
              </a:lnSpc>
            </a:pPr>
            <a:r>
              <a:rPr lang="en-US" sz="2000" dirty="0"/>
              <a:t>To perform calculations and data analysis.</a:t>
            </a:r>
            <a:endParaRPr lang="en-US" sz="1900" dirty="0"/>
          </a:p>
          <a:p>
            <a:pPr marL="0" indent="0">
              <a:lnSpc>
                <a:spcPct val="150000"/>
              </a:lnSpc>
              <a:buNone/>
            </a:pPr>
            <a:r>
              <a:rPr lang="en-US" sz="2000" dirty="0">
                <a:solidFill>
                  <a:schemeClr val="accent6"/>
                </a:solidFill>
              </a:rPr>
              <a:t>Measures:</a:t>
            </a:r>
          </a:p>
          <a:p>
            <a:pPr>
              <a:lnSpc>
                <a:spcPct val="150000"/>
              </a:lnSpc>
            </a:pPr>
            <a:r>
              <a:rPr lang="en-US" dirty="0"/>
              <a:t>Total Sales = SUM('Amazon sales'[</a:t>
            </a:r>
            <a:r>
              <a:rPr lang="en-US" dirty="0" err="1"/>
              <a:t>Total_Sales</a:t>
            </a:r>
            <a:r>
              <a:rPr lang="en-US" dirty="0"/>
              <a:t>])</a:t>
            </a:r>
          </a:p>
          <a:p>
            <a:pPr>
              <a:lnSpc>
                <a:spcPct val="150000"/>
              </a:lnSpc>
            </a:pPr>
            <a:r>
              <a:rPr lang="en-US" dirty="0"/>
              <a:t>Total Orders = DISTINCTCOUNT('Amazon sales'[</a:t>
            </a:r>
            <a:r>
              <a:rPr lang="en-US" dirty="0" err="1"/>
              <a:t>Order_ID</a:t>
            </a:r>
            <a:r>
              <a:rPr lang="en-US" dirty="0"/>
              <a:t>])</a:t>
            </a:r>
          </a:p>
          <a:p>
            <a:pPr>
              <a:lnSpc>
                <a:spcPct val="150000"/>
              </a:lnSpc>
            </a:pPr>
            <a:r>
              <a:rPr lang="en-IN" dirty="0"/>
              <a:t>Total Quantity Sold = sum('Amazon sales'[Quantity])</a:t>
            </a:r>
            <a:endParaRPr lang="en-US" dirty="0"/>
          </a:p>
          <a:p>
            <a:endParaRPr lang="en-US" dirty="0"/>
          </a:p>
          <a:p>
            <a:endParaRPr lang="en-US" dirty="0"/>
          </a:p>
          <a:p>
            <a:endParaRPr lang="en-IN" dirty="0"/>
          </a:p>
          <a:p>
            <a:endParaRPr lang="en-IN" dirty="0"/>
          </a:p>
          <a:p>
            <a:endParaRPr lang="en-IN" dirty="0"/>
          </a:p>
        </p:txBody>
      </p:sp>
    </p:spTree>
    <p:extLst>
      <p:ext uri="{BB962C8B-B14F-4D97-AF65-F5344CB8AC3E}">
        <p14:creationId xmlns:p14="http://schemas.microsoft.com/office/powerpoint/2010/main" val="953737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BF137-1A53-181B-B772-D9792B255408}"/>
              </a:ext>
            </a:extLst>
          </p:cNvPr>
          <p:cNvSpPr>
            <a:spLocks noGrp="1"/>
          </p:cNvSpPr>
          <p:nvPr>
            <p:ph type="title"/>
          </p:nvPr>
        </p:nvSpPr>
        <p:spPr>
          <a:xfrm>
            <a:off x="685801" y="301337"/>
            <a:ext cx="10131425" cy="976746"/>
          </a:xfrm>
        </p:spPr>
        <p:txBody>
          <a:bodyPr/>
          <a:lstStyle/>
          <a:p>
            <a:r>
              <a:rPr lang="en-IN" b="1" dirty="0">
                <a:solidFill>
                  <a:schemeClr val="accent6"/>
                </a:solidFill>
              </a:rPr>
              <a:t>Power bi dashboard overview</a:t>
            </a:r>
          </a:p>
        </p:txBody>
      </p:sp>
      <p:pic>
        <p:nvPicPr>
          <p:cNvPr id="11" name="Content Placeholder 10">
            <a:extLst>
              <a:ext uri="{FF2B5EF4-FFF2-40B4-BE49-F238E27FC236}">
                <a16:creationId xmlns:a16="http://schemas.microsoft.com/office/drawing/2014/main" id="{51A8E018-49F8-E764-FD36-D85959F2D848}"/>
              </a:ext>
            </a:extLst>
          </p:cNvPr>
          <p:cNvPicPr>
            <a:picLocks noGrp="1" noChangeAspect="1"/>
          </p:cNvPicPr>
          <p:nvPr>
            <p:ph idx="1"/>
          </p:nvPr>
        </p:nvPicPr>
        <p:blipFill>
          <a:blip r:embed="rId2"/>
          <a:stretch>
            <a:fillRect/>
          </a:stretch>
        </p:blipFill>
        <p:spPr>
          <a:xfrm>
            <a:off x="1730477" y="1278082"/>
            <a:ext cx="8436078" cy="4926073"/>
          </a:xfrm>
        </p:spPr>
      </p:pic>
    </p:spTree>
    <p:extLst>
      <p:ext uri="{BB962C8B-B14F-4D97-AF65-F5344CB8AC3E}">
        <p14:creationId xmlns:p14="http://schemas.microsoft.com/office/powerpoint/2010/main" val="3705862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A75DC-7361-2BFF-A480-365DF4215CE4}"/>
              </a:ext>
            </a:extLst>
          </p:cNvPr>
          <p:cNvSpPr>
            <a:spLocks noGrp="1"/>
          </p:cNvSpPr>
          <p:nvPr>
            <p:ph type="title"/>
          </p:nvPr>
        </p:nvSpPr>
        <p:spPr>
          <a:xfrm>
            <a:off x="685800" y="1661652"/>
            <a:ext cx="4956705" cy="801331"/>
          </a:xfrm>
        </p:spPr>
        <p:txBody>
          <a:bodyPr>
            <a:normAutofit/>
          </a:bodyPr>
          <a:lstStyle/>
          <a:p>
            <a:r>
              <a:rPr lang="en-IN" b="1" dirty="0">
                <a:solidFill>
                  <a:srgbClr val="FF0000"/>
                </a:solidFill>
              </a:rPr>
              <a:t>overall sales trend analysis</a:t>
            </a:r>
          </a:p>
        </p:txBody>
      </p:sp>
      <p:sp>
        <p:nvSpPr>
          <p:cNvPr id="7" name="Rectangle 2">
            <a:extLst>
              <a:ext uri="{FF2B5EF4-FFF2-40B4-BE49-F238E27FC236}">
                <a16:creationId xmlns:a16="http://schemas.microsoft.com/office/drawing/2014/main" id="{F3E64DF7-E631-E492-CA4B-C8BD40B48BF6}"/>
              </a:ext>
            </a:extLst>
          </p:cNvPr>
          <p:cNvSpPr>
            <a:spLocks noGrp="1" noChangeArrowheads="1"/>
          </p:cNvSpPr>
          <p:nvPr>
            <p:ph type="body" sz="half" idx="2"/>
          </p:nvPr>
        </p:nvSpPr>
        <p:spPr bwMode="auto">
          <a:xfrm>
            <a:off x="685800" y="2940557"/>
            <a:ext cx="7010509" cy="1891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defTabSz="914400" eaLnBrk="0" fontAlgn="base" hangingPunct="0">
              <a:lnSpc>
                <a:spcPct val="150000"/>
              </a:lnSpc>
              <a:spcBef>
                <a:spcPct val="0"/>
              </a:spcBef>
              <a:spcAft>
                <a:spcPct val="0"/>
              </a:spcAft>
              <a:buClrTx/>
              <a:buSzTx/>
              <a:buFontTx/>
              <a:buChar char="•"/>
            </a:pPr>
            <a:r>
              <a:rPr lang="en-US" altLang="en-US" sz="2000" b="1" dirty="0"/>
              <a:t>Area Chart: I</a:t>
            </a:r>
            <a:r>
              <a:rPr lang="en-US" sz="2000" dirty="0"/>
              <a:t>t clearly shows </a:t>
            </a:r>
            <a:r>
              <a:rPr lang="en-US" sz="2000" b="1" dirty="0"/>
              <a:t>total sales over time</a:t>
            </a:r>
            <a:r>
              <a:rPr lang="en-US" sz="2000" dirty="0"/>
              <a:t> and allows you</a:t>
            </a:r>
          </a:p>
          <a:p>
            <a:pPr lvl="0" defTabSz="914400" eaLnBrk="0" fontAlgn="base" hangingPunct="0">
              <a:lnSpc>
                <a:spcPct val="150000"/>
              </a:lnSpc>
              <a:spcBef>
                <a:spcPct val="0"/>
              </a:spcBef>
              <a:spcAft>
                <a:spcPct val="0"/>
              </a:spcAft>
              <a:buClrTx/>
              <a:buSzTx/>
            </a:pPr>
            <a:r>
              <a:rPr lang="en-US" sz="2000" dirty="0"/>
              <a:t> to see growth patterns and peaks.</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X-axis:</a:t>
            </a:r>
            <a:r>
              <a:rPr kumimoji="0" lang="en-US" altLang="en-US" sz="2000" b="0" i="0" u="none" strike="noStrike" cap="none" normalizeH="0" baseline="0" dirty="0">
                <a:ln>
                  <a:noFill/>
                </a:ln>
                <a:solidFill>
                  <a:schemeClr val="tx1"/>
                </a:solidFill>
                <a:effectLst/>
              </a:rPr>
              <a:t> Months (Jan → Dec)</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Y-axis:</a:t>
            </a:r>
            <a:r>
              <a:rPr kumimoji="0" lang="en-US" altLang="en-US" sz="2000" b="0" i="0" u="none" strike="noStrike" cap="none" normalizeH="0" baseline="0" dirty="0">
                <a:ln>
                  <a:noFill/>
                </a:ln>
                <a:solidFill>
                  <a:schemeClr val="tx1"/>
                </a:solidFill>
                <a:effectLst/>
              </a:rPr>
              <a:t> </a:t>
            </a:r>
            <a:r>
              <a:rPr lang="en-US" altLang="en-US" sz="2000" dirty="0"/>
              <a:t>Total Sales</a:t>
            </a:r>
            <a:r>
              <a:rPr kumimoji="0" lang="en-US" altLang="en-US" sz="2000" b="0" i="0" u="none" strike="noStrike" cap="none" normalizeH="0" baseline="0" dirty="0">
                <a:ln>
                  <a:noFill/>
                </a:ln>
                <a:solidFill>
                  <a:schemeClr val="tx1"/>
                </a:solidFill>
                <a:effectLst/>
              </a:rPr>
              <a:t> ($)</a:t>
            </a:r>
          </a:p>
        </p:txBody>
      </p:sp>
      <p:pic>
        <p:nvPicPr>
          <p:cNvPr id="11" name="Picture Placeholder 10">
            <a:extLst>
              <a:ext uri="{FF2B5EF4-FFF2-40B4-BE49-F238E27FC236}">
                <a16:creationId xmlns:a16="http://schemas.microsoft.com/office/drawing/2014/main" id="{53206972-17A0-D031-EB51-4306B4B48E93}"/>
              </a:ext>
            </a:extLst>
          </p:cNvPr>
          <p:cNvPicPr>
            <a:picLocks noGrp="1" noChangeAspect="1"/>
          </p:cNvPicPr>
          <p:nvPr>
            <p:ph type="pic" idx="1"/>
          </p:nvPr>
        </p:nvPicPr>
        <p:blipFill>
          <a:blip r:embed="rId2"/>
          <a:srcRect l="59305" t="18492" r="17708" b="42051"/>
          <a:stretch>
            <a:fillRect/>
          </a:stretch>
        </p:blipFill>
        <p:spPr>
          <a:xfrm>
            <a:off x="7638601" y="1789471"/>
            <a:ext cx="3403025" cy="3519948"/>
          </a:xfrm>
        </p:spPr>
      </p:pic>
    </p:spTree>
    <p:extLst>
      <p:ext uri="{BB962C8B-B14F-4D97-AF65-F5344CB8AC3E}">
        <p14:creationId xmlns:p14="http://schemas.microsoft.com/office/powerpoint/2010/main" val="2594139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DA81B-D097-0D4B-EB48-5EB445F6F67E}"/>
              </a:ext>
            </a:extLst>
          </p:cNvPr>
          <p:cNvSpPr>
            <a:spLocks noGrp="1"/>
          </p:cNvSpPr>
          <p:nvPr>
            <p:ph type="title"/>
          </p:nvPr>
        </p:nvSpPr>
        <p:spPr>
          <a:xfrm>
            <a:off x="685800" y="1600201"/>
            <a:ext cx="6164653" cy="644236"/>
          </a:xfrm>
        </p:spPr>
        <p:txBody>
          <a:bodyPr/>
          <a:lstStyle/>
          <a:p>
            <a:r>
              <a:rPr lang="en-IN" b="1" dirty="0">
                <a:solidFill>
                  <a:srgbClr val="FF0000"/>
                </a:solidFill>
              </a:rPr>
              <a:t>Top selling category based on sales</a:t>
            </a:r>
          </a:p>
        </p:txBody>
      </p:sp>
      <p:sp>
        <p:nvSpPr>
          <p:cNvPr id="4" name="Text Placeholder 3">
            <a:extLst>
              <a:ext uri="{FF2B5EF4-FFF2-40B4-BE49-F238E27FC236}">
                <a16:creationId xmlns:a16="http://schemas.microsoft.com/office/drawing/2014/main" id="{5433B7AD-4FC0-A502-3BB9-4B63380AB215}"/>
              </a:ext>
            </a:extLst>
          </p:cNvPr>
          <p:cNvSpPr>
            <a:spLocks noGrp="1"/>
          </p:cNvSpPr>
          <p:nvPr>
            <p:ph type="body" sz="half" idx="2"/>
          </p:nvPr>
        </p:nvSpPr>
        <p:spPr>
          <a:xfrm>
            <a:off x="685800" y="2400301"/>
            <a:ext cx="6164653" cy="2857498"/>
          </a:xfrm>
        </p:spPr>
        <p:txBody>
          <a:bodyPr>
            <a:noAutofit/>
          </a:bodyPr>
          <a:lstStyle/>
          <a:p>
            <a:pPr marL="342900" indent="-342900">
              <a:lnSpc>
                <a:spcPct val="150000"/>
              </a:lnSpc>
              <a:buFont typeface="Arial" panose="020B0604020202020204" pitchFamily="34" charset="0"/>
              <a:buChar char="•"/>
            </a:pPr>
            <a:r>
              <a:rPr lang="en-IN" sz="2000" b="1" dirty="0"/>
              <a:t>Donut</a:t>
            </a:r>
            <a:r>
              <a:rPr lang="en-IN" sz="2000" b="1" dirty="0">
                <a:solidFill>
                  <a:srgbClr val="FF0000"/>
                </a:solidFill>
              </a:rPr>
              <a:t> </a:t>
            </a:r>
            <a:r>
              <a:rPr lang="en-IN" sz="2000" b="1" dirty="0"/>
              <a:t>chart</a:t>
            </a:r>
            <a:r>
              <a:rPr lang="en-IN" sz="2000" dirty="0"/>
              <a:t>→ Shows Percentage contribution of each category to total revenue</a:t>
            </a:r>
          </a:p>
          <a:p>
            <a:pPr marL="342900" indent="-342900">
              <a:lnSpc>
                <a:spcPct val="150000"/>
              </a:lnSpc>
              <a:buFont typeface="Arial" panose="020B0604020202020204" pitchFamily="34" charset="0"/>
              <a:buChar char="•"/>
            </a:pPr>
            <a:r>
              <a:rPr lang="en-IN" sz="2000" dirty="0"/>
              <a:t>Legend: category</a:t>
            </a:r>
          </a:p>
          <a:p>
            <a:pPr marL="342900" indent="-342900">
              <a:lnSpc>
                <a:spcPct val="150000"/>
              </a:lnSpc>
              <a:buFont typeface="Arial" panose="020B0604020202020204" pitchFamily="34" charset="0"/>
              <a:buChar char="•"/>
            </a:pPr>
            <a:r>
              <a:rPr lang="en-IN" sz="2000" dirty="0"/>
              <a:t>Values: percentage of total revenue</a:t>
            </a:r>
          </a:p>
          <a:p>
            <a:endParaRPr lang="en-IN" sz="2000" dirty="0"/>
          </a:p>
          <a:p>
            <a:r>
              <a:rPr lang="en-IN" sz="2000" dirty="0"/>
              <a:t> </a:t>
            </a:r>
          </a:p>
        </p:txBody>
      </p:sp>
      <p:pic>
        <p:nvPicPr>
          <p:cNvPr id="8" name="Picture Placeholder 7">
            <a:extLst>
              <a:ext uri="{FF2B5EF4-FFF2-40B4-BE49-F238E27FC236}">
                <a16:creationId xmlns:a16="http://schemas.microsoft.com/office/drawing/2014/main" id="{33D24CFC-5A48-0AFA-67AE-B5448DD322FC}"/>
              </a:ext>
            </a:extLst>
          </p:cNvPr>
          <p:cNvPicPr>
            <a:picLocks noGrp="1" noChangeAspect="1"/>
          </p:cNvPicPr>
          <p:nvPr>
            <p:ph type="pic" idx="1"/>
          </p:nvPr>
        </p:nvPicPr>
        <p:blipFill>
          <a:blip r:embed="rId2"/>
          <a:srcRect l="9309" t="25376" r="29814" b="8387"/>
          <a:stretch>
            <a:fillRect/>
          </a:stretch>
        </p:blipFill>
        <p:spPr>
          <a:xfrm>
            <a:off x="6850453" y="1600200"/>
            <a:ext cx="4947369" cy="3738715"/>
          </a:xfrm>
        </p:spPr>
      </p:pic>
    </p:spTree>
    <p:extLst>
      <p:ext uri="{BB962C8B-B14F-4D97-AF65-F5344CB8AC3E}">
        <p14:creationId xmlns:p14="http://schemas.microsoft.com/office/powerpoint/2010/main" val="577360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C3F8F-A4D3-C9E4-8C8F-5F74BCDCF913}"/>
              </a:ext>
            </a:extLst>
          </p:cNvPr>
          <p:cNvSpPr>
            <a:spLocks noGrp="1"/>
          </p:cNvSpPr>
          <p:nvPr>
            <p:ph type="title"/>
          </p:nvPr>
        </p:nvSpPr>
        <p:spPr>
          <a:xfrm>
            <a:off x="685800" y="1600200"/>
            <a:ext cx="6164653" cy="696191"/>
          </a:xfrm>
        </p:spPr>
        <p:txBody>
          <a:bodyPr/>
          <a:lstStyle/>
          <a:p>
            <a:r>
              <a:rPr lang="en-IN" b="1" dirty="0">
                <a:solidFill>
                  <a:srgbClr val="FF0000"/>
                </a:solidFill>
              </a:rPr>
              <a:t>Identify Top 10 products by sales</a:t>
            </a:r>
          </a:p>
        </p:txBody>
      </p:sp>
      <p:sp>
        <p:nvSpPr>
          <p:cNvPr id="4" name="Text Placeholder 3">
            <a:extLst>
              <a:ext uri="{FF2B5EF4-FFF2-40B4-BE49-F238E27FC236}">
                <a16:creationId xmlns:a16="http://schemas.microsoft.com/office/drawing/2014/main" id="{77F9EB65-A7F9-9980-3B16-7A7FB6D234D0}"/>
              </a:ext>
            </a:extLst>
          </p:cNvPr>
          <p:cNvSpPr>
            <a:spLocks noGrp="1"/>
          </p:cNvSpPr>
          <p:nvPr>
            <p:ph type="body" sz="half" idx="2"/>
          </p:nvPr>
        </p:nvSpPr>
        <p:spPr>
          <a:xfrm>
            <a:off x="685800" y="2576945"/>
            <a:ext cx="6164653" cy="3065319"/>
          </a:xfrm>
        </p:spPr>
        <p:txBody>
          <a:bodyPr/>
          <a:lstStyle/>
          <a:p>
            <a:pPr>
              <a:lnSpc>
                <a:spcPct val="150000"/>
              </a:lnSpc>
            </a:pPr>
            <a:r>
              <a:rPr lang="en-IN" sz="2000" dirty="0"/>
              <a:t>Stacked bar chart→ horizontal bars are easier to read, it gives quick comparison across products.</a:t>
            </a:r>
          </a:p>
          <a:p>
            <a:pPr>
              <a:lnSpc>
                <a:spcPct val="150000"/>
              </a:lnSpc>
            </a:pPr>
            <a:r>
              <a:rPr lang="en-IN" sz="2000" dirty="0"/>
              <a:t>Y axis: product name</a:t>
            </a:r>
          </a:p>
          <a:p>
            <a:pPr>
              <a:lnSpc>
                <a:spcPct val="150000"/>
              </a:lnSpc>
            </a:pPr>
            <a:r>
              <a:rPr lang="en-IN" sz="2000" dirty="0"/>
              <a:t>X axis: Sum of total sales </a:t>
            </a:r>
          </a:p>
          <a:p>
            <a:endParaRPr lang="en-IN" dirty="0"/>
          </a:p>
          <a:p>
            <a:endParaRPr lang="en-IN" dirty="0"/>
          </a:p>
        </p:txBody>
      </p:sp>
      <p:pic>
        <p:nvPicPr>
          <p:cNvPr id="8" name="Picture Placeholder 7">
            <a:extLst>
              <a:ext uri="{FF2B5EF4-FFF2-40B4-BE49-F238E27FC236}">
                <a16:creationId xmlns:a16="http://schemas.microsoft.com/office/drawing/2014/main" id="{B0AD13F3-1305-5B3C-CA1C-7BBB7A481AA6}"/>
              </a:ext>
            </a:extLst>
          </p:cNvPr>
          <p:cNvPicPr>
            <a:picLocks noGrp="1" noChangeAspect="1"/>
          </p:cNvPicPr>
          <p:nvPr>
            <p:ph type="pic" idx="1"/>
          </p:nvPr>
        </p:nvPicPr>
        <p:blipFill>
          <a:blip r:embed="rId2"/>
          <a:srcRect l="13785" t="21108" r="27295" b="21043"/>
          <a:stretch>
            <a:fillRect/>
          </a:stretch>
        </p:blipFill>
        <p:spPr>
          <a:xfrm>
            <a:off x="6850453" y="1877402"/>
            <a:ext cx="4788310" cy="3245204"/>
          </a:xfrm>
        </p:spPr>
      </p:pic>
    </p:spTree>
    <p:extLst>
      <p:ext uri="{BB962C8B-B14F-4D97-AF65-F5344CB8AC3E}">
        <p14:creationId xmlns:p14="http://schemas.microsoft.com/office/powerpoint/2010/main" val="1331994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BF1CE-CB22-B7C7-D07A-55F719A5FC41}"/>
              </a:ext>
            </a:extLst>
          </p:cNvPr>
          <p:cNvSpPr>
            <a:spLocks noGrp="1"/>
          </p:cNvSpPr>
          <p:nvPr>
            <p:ph type="title"/>
          </p:nvPr>
        </p:nvSpPr>
        <p:spPr>
          <a:xfrm>
            <a:off x="685800" y="1600200"/>
            <a:ext cx="6164653" cy="685800"/>
          </a:xfrm>
        </p:spPr>
        <p:txBody>
          <a:bodyPr/>
          <a:lstStyle/>
          <a:p>
            <a:r>
              <a:rPr lang="en-IN" b="1" dirty="0">
                <a:solidFill>
                  <a:srgbClr val="FF0000"/>
                </a:solidFill>
              </a:rPr>
              <a:t>Identify  orders by each city</a:t>
            </a:r>
          </a:p>
        </p:txBody>
      </p:sp>
      <p:sp>
        <p:nvSpPr>
          <p:cNvPr id="4" name="Text Placeholder 3">
            <a:extLst>
              <a:ext uri="{FF2B5EF4-FFF2-40B4-BE49-F238E27FC236}">
                <a16:creationId xmlns:a16="http://schemas.microsoft.com/office/drawing/2014/main" id="{1AFAEE52-46AF-6509-22DC-A076FEE6F4B5}"/>
              </a:ext>
            </a:extLst>
          </p:cNvPr>
          <p:cNvSpPr>
            <a:spLocks noGrp="1"/>
          </p:cNvSpPr>
          <p:nvPr>
            <p:ph type="body" sz="half" idx="2"/>
          </p:nvPr>
        </p:nvSpPr>
        <p:spPr>
          <a:xfrm>
            <a:off x="685800" y="2410691"/>
            <a:ext cx="6164653" cy="3390341"/>
          </a:xfrm>
        </p:spPr>
        <p:txBody>
          <a:bodyPr>
            <a:normAutofit/>
          </a:bodyPr>
          <a:lstStyle/>
          <a:p>
            <a:r>
              <a:rPr lang="en-US" sz="2000" b="1" dirty="0"/>
              <a:t>Waterfall chart: </a:t>
            </a:r>
            <a:r>
              <a:rPr lang="en-US" sz="2000" dirty="0"/>
              <a:t>Shows customer demand and order volume across cities.</a:t>
            </a:r>
          </a:p>
          <a:p>
            <a:r>
              <a:rPr lang="en-US" sz="2000" b="1" dirty="0"/>
              <a:t>X-Axis: </a:t>
            </a:r>
            <a:r>
              <a:rPr lang="en-US" sz="2000" dirty="0"/>
              <a:t>City Name</a:t>
            </a:r>
          </a:p>
          <a:p>
            <a:r>
              <a:rPr lang="en-US" sz="2000" b="1" dirty="0"/>
              <a:t>Y-Axis: </a:t>
            </a:r>
            <a:r>
              <a:rPr lang="en-US" sz="2000" dirty="0"/>
              <a:t>Number of Orders</a:t>
            </a:r>
          </a:p>
          <a:p>
            <a:pPr>
              <a:lnSpc>
                <a:spcPct val="150000"/>
              </a:lnSpc>
            </a:pPr>
            <a:endParaRPr lang="en-IN" sz="2000" dirty="0"/>
          </a:p>
        </p:txBody>
      </p:sp>
      <p:pic>
        <p:nvPicPr>
          <p:cNvPr id="7" name="Picture Placeholder 6">
            <a:extLst>
              <a:ext uri="{FF2B5EF4-FFF2-40B4-BE49-F238E27FC236}">
                <a16:creationId xmlns:a16="http://schemas.microsoft.com/office/drawing/2014/main" id="{7BE0A52E-230B-D724-CD50-428032C983F6}"/>
              </a:ext>
            </a:extLst>
          </p:cNvPr>
          <p:cNvPicPr>
            <a:picLocks noGrp="1" noChangeAspect="1"/>
          </p:cNvPicPr>
          <p:nvPr>
            <p:ph type="pic" idx="1"/>
          </p:nvPr>
        </p:nvPicPr>
        <p:blipFill>
          <a:blip r:embed="rId2"/>
          <a:srcRect l="13664" t="21935" r="26932" b="21506"/>
          <a:stretch>
            <a:fillRect/>
          </a:stretch>
        </p:blipFill>
        <p:spPr>
          <a:xfrm>
            <a:off x="6678561" y="1779639"/>
            <a:ext cx="4827639" cy="3048000"/>
          </a:xfrm>
        </p:spPr>
      </p:pic>
    </p:spTree>
    <p:extLst>
      <p:ext uri="{BB962C8B-B14F-4D97-AF65-F5344CB8AC3E}">
        <p14:creationId xmlns:p14="http://schemas.microsoft.com/office/powerpoint/2010/main" val="33614113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D1851-3C6A-27AE-4BC6-3EDF5EBC1C9C}"/>
              </a:ext>
            </a:extLst>
          </p:cNvPr>
          <p:cNvSpPr>
            <a:spLocks noGrp="1"/>
          </p:cNvSpPr>
          <p:nvPr>
            <p:ph type="title"/>
          </p:nvPr>
        </p:nvSpPr>
        <p:spPr>
          <a:xfrm>
            <a:off x="571500" y="1257301"/>
            <a:ext cx="6858000" cy="758536"/>
          </a:xfrm>
        </p:spPr>
        <p:txBody>
          <a:bodyPr>
            <a:normAutofit/>
          </a:bodyPr>
          <a:lstStyle/>
          <a:p>
            <a:r>
              <a:rPr lang="en-IN" b="1" dirty="0">
                <a:solidFill>
                  <a:srgbClr val="FF0000"/>
                </a:solidFill>
              </a:rPr>
              <a:t>Analyse city-wise sales trend</a:t>
            </a:r>
          </a:p>
        </p:txBody>
      </p:sp>
      <p:sp>
        <p:nvSpPr>
          <p:cNvPr id="4" name="Text Placeholder 3">
            <a:extLst>
              <a:ext uri="{FF2B5EF4-FFF2-40B4-BE49-F238E27FC236}">
                <a16:creationId xmlns:a16="http://schemas.microsoft.com/office/drawing/2014/main" id="{2D3BC9A9-B4E6-DAA0-6793-E141D57669D9}"/>
              </a:ext>
            </a:extLst>
          </p:cNvPr>
          <p:cNvSpPr>
            <a:spLocks noGrp="1"/>
          </p:cNvSpPr>
          <p:nvPr>
            <p:ph type="body" sz="half" idx="2"/>
          </p:nvPr>
        </p:nvSpPr>
        <p:spPr>
          <a:xfrm>
            <a:off x="685800" y="2244436"/>
            <a:ext cx="5597013" cy="3222299"/>
          </a:xfrm>
        </p:spPr>
        <p:txBody>
          <a:bodyPr>
            <a:normAutofit/>
          </a:bodyPr>
          <a:lstStyle/>
          <a:p>
            <a:pPr>
              <a:lnSpc>
                <a:spcPct val="150000"/>
              </a:lnSpc>
            </a:pPr>
            <a:r>
              <a:rPr lang="en-US" dirty="0"/>
              <a:t> </a:t>
            </a:r>
            <a:r>
              <a:rPr lang="en-US" sz="2000" b="1" dirty="0"/>
              <a:t>Vertical Bar Chart: </a:t>
            </a:r>
            <a:r>
              <a:rPr lang="en-US" sz="2000" dirty="0"/>
              <a:t>Identifies cities generating the highest sales.</a:t>
            </a:r>
          </a:p>
          <a:p>
            <a:pPr>
              <a:lnSpc>
                <a:spcPct val="150000"/>
              </a:lnSpc>
            </a:pPr>
            <a:r>
              <a:rPr lang="en-US" sz="2000" b="1" dirty="0"/>
              <a:t>X-Axis: </a:t>
            </a:r>
            <a:r>
              <a:rPr lang="en-US" sz="2000" dirty="0"/>
              <a:t>City Name</a:t>
            </a:r>
          </a:p>
          <a:p>
            <a:pPr>
              <a:lnSpc>
                <a:spcPct val="150000"/>
              </a:lnSpc>
            </a:pPr>
            <a:r>
              <a:rPr lang="en-US" sz="2000" b="1" dirty="0"/>
              <a:t>Y-Axis: </a:t>
            </a:r>
            <a:r>
              <a:rPr lang="en-US" sz="2000" dirty="0"/>
              <a:t>Total Sales Amount</a:t>
            </a:r>
          </a:p>
          <a:p>
            <a:endParaRPr lang="en-IN" dirty="0"/>
          </a:p>
        </p:txBody>
      </p:sp>
      <p:pic>
        <p:nvPicPr>
          <p:cNvPr id="8" name="Picture Placeholder 7">
            <a:extLst>
              <a:ext uri="{FF2B5EF4-FFF2-40B4-BE49-F238E27FC236}">
                <a16:creationId xmlns:a16="http://schemas.microsoft.com/office/drawing/2014/main" id="{B95E8ACE-899F-4408-0EAA-75B652CDDF5C}"/>
              </a:ext>
            </a:extLst>
          </p:cNvPr>
          <p:cNvPicPr>
            <a:picLocks noGrp="1" noChangeAspect="1"/>
          </p:cNvPicPr>
          <p:nvPr>
            <p:ph type="pic" idx="1"/>
          </p:nvPr>
        </p:nvPicPr>
        <p:blipFill>
          <a:blip r:embed="rId2"/>
          <a:srcRect l="13544" t="21936" r="26810" b="21075"/>
          <a:stretch>
            <a:fillRect/>
          </a:stretch>
        </p:blipFill>
        <p:spPr>
          <a:xfrm>
            <a:off x="6658897" y="1858296"/>
            <a:ext cx="4847303" cy="2605549"/>
          </a:xfrm>
        </p:spPr>
      </p:pic>
    </p:spTree>
    <p:extLst>
      <p:ext uri="{BB962C8B-B14F-4D97-AF65-F5344CB8AC3E}">
        <p14:creationId xmlns:p14="http://schemas.microsoft.com/office/powerpoint/2010/main" val="21733683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085D3-E1A1-677D-E5CF-E02CE781E432}"/>
              </a:ext>
            </a:extLst>
          </p:cNvPr>
          <p:cNvSpPr>
            <a:spLocks noGrp="1"/>
          </p:cNvSpPr>
          <p:nvPr>
            <p:ph type="title"/>
          </p:nvPr>
        </p:nvSpPr>
        <p:spPr>
          <a:xfrm>
            <a:off x="685800" y="1059873"/>
            <a:ext cx="6164653" cy="727364"/>
          </a:xfrm>
        </p:spPr>
        <p:txBody>
          <a:bodyPr>
            <a:normAutofit/>
          </a:bodyPr>
          <a:lstStyle/>
          <a:p>
            <a:r>
              <a:rPr lang="en-IN" b="1" dirty="0">
                <a:solidFill>
                  <a:srgbClr val="FF0000"/>
                </a:solidFill>
              </a:rPr>
              <a:t>Month over month analysis</a:t>
            </a:r>
          </a:p>
        </p:txBody>
      </p:sp>
      <p:sp>
        <p:nvSpPr>
          <p:cNvPr id="4" name="Text Placeholder 3">
            <a:extLst>
              <a:ext uri="{FF2B5EF4-FFF2-40B4-BE49-F238E27FC236}">
                <a16:creationId xmlns:a16="http://schemas.microsoft.com/office/drawing/2014/main" id="{1D52C27C-C3BD-9F82-138E-2C1FBFFC7322}"/>
              </a:ext>
            </a:extLst>
          </p:cNvPr>
          <p:cNvSpPr>
            <a:spLocks noGrp="1"/>
          </p:cNvSpPr>
          <p:nvPr>
            <p:ph type="body" sz="half" idx="2"/>
          </p:nvPr>
        </p:nvSpPr>
        <p:spPr>
          <a:xfrm>
            <a:off x="685800" y="2140527"/>
            <a:ext cx="6164653" cy="3657600"/>
          </a:xfrm>
        </p:spPr>
        <p:txBody>
          <a:bodyPr>
            <a:normAutofit/>
          </a:bodyPr>
          <a:lstStyle/>
          <a:p>
            <a:pPr>
              <a:lnSpc>
                <a:spcPct val="150000"/>
              </a:lnSpc>
            </a:pPr>
            <a:r>
              <a:rPr lang="en-IN" sz="2000" dirty="0"/>
              <a:t>Line Chart: These Charts are used to show the trends over months</a:t>
            </a:r>
          </a:p>
          <a:p>
            <a:pPr>
              <a:lnSpc>
                <a:spcPct val="150000"/>
              </a:lnSpc>
            </a:pPr>
            <a:r>
              <a:rPr lang="en-US" sz="2000" dirty="0"/>
              <a:t>X axis: Month Name</a:t>
            </a:r>
          </a:p>
          <a:p>
            <a:pPr>
              <a:lnSpc>
                <a:spcPct val="150000"/>
              </a:lnSpc>
            </a:pPr>
            <a:r>
              <a:rPr lang="en-US" sz="2000" dirty="0"/>
              <a:t> Y axis: Total Sales</a:t>
            </a:r>
          </a:p>
          <a:p>
            <a:pPr>
              <a:lnSpc>
                <a:spcPct val="150000"/>
              </a:lnSpc>
            </a:pPr>
            <a:r>
              <a:rPr lang="en-US" sz="2000" dirty="0"/>
              <a:t>Legend: year </a:t>
            </a:r>
          </a:p>
          <a:p>
            <a:endParaRPr lang="en-IN" dirty="0"/>
          </a:p>
        </p:txBody>
      </p:sp>
      <p:pic>
        <p:nvPicPr>
          <p:cNvPr id="12" name="Picture Placeholder 11">
            <a:extLst>
              <a:ext uri="{FF2B5EF4-FFF2-40B4-BE49-F238E27FC236}">
                <a16:creationId xmlns:a16="http://schemas.microsoft.com/office/drawing/2014/main" id="{B396E710-3112-A90A-C04F-051F4F655F22}"/>
              </a:ext>
            </a:extLst>
          </p:cNvPr>
          <p:cNvPicPr>
            <a:picLocks noGrp="1" noChangeAspect="1"/>
          </p:cNvPicPr>
          <p:nvPr>
            <p:ph type="pic" idx="1"/>
          </p:nvPr>
        </p:nvPicPr>
        <p:blipFill>
          <a:blip r:embed="rId2"/>
          <a:srcRect l="2534" t="20000" r="26327" b="9091"/>
          <a:stretch>
            <a:fillRect/>
          </a:stretch>
        </p:blipFill>
        <p:spPr>
          <a:xfrm>
            <a:off x="6850453" y="1787237"/>
            <a:ext cx="4830269" cy="3241966"/>
          </a:xfrm>
        </p:spPr>
      </p:pic>
    </p:spTree>
    <p:extLst>
      <p:ext uri="{BB962C8B-B14F-4D97-AF65-F5344CB8AC3E}">
        <p14:creationId xmlns:p14="http://schemas.microsoft.com/office/powerpoint/2010/main" val="40558446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D9628-DB73-5F86-2EEF-7DD7019B5AA1}"/>
              </a:ext>
            </a:extLst>
          </p:cNvPr>
          <p:cNvSpPr>
            <a:spLocks noGrp="1"/>
          </p:cNvSpPr>
          <p:nvPr>
            <p:ph type="title"/>
          </p:nvPr>
        </p:nvSpPr>
        <p:spPr>
          <a:xfrm>
            <a:off x="685800" y="1366684"/>
            <a:ext cx="6164653" cy="1229032"/>
          </a:xfrm>
        </p:spPr>
        <p:txBody>
          <a:bodyPr/>
          <a:lstStyle/>
          <a:p>
            <a:r>
              <a:rPr lang="en-IN" dirty="0">
                <a:solidFill>
                  <a:srgbClr val="FF0000"/>
                </a:solidFill>
              </a:rPr>
              <a:t>Identify orders based on payment method</a:t>
            </a:r>
          </a:p>
        </p:txBody>
      </p:sp>
      <p:pic>
        <p:nvPicPr>
          <p:cNvPr id="6" name="Picture Placeholder 5">
            <a:extLst>
              <a:ext uri="{FF2B5EF4-FFF2-40B4-BE49-F238E27FC236}">
                <a16:creationId xmlns:a16="http://schemas.microsoft.com/office/drawing/2014/main" id="{1E2F2486-BD47-33F1-B449-9F4F4322767B}"/>
              </a:ext>
            </a:extLst>
          </p:cNvPr>
          <p:cNvPicPr>
            <a:picLocks noGrp="1" noChangeAspect="1"/>
          </p:cNvPicPr>
          <p:nvPr>
            <p:ph type="pic" idx="1"/>
          </p:nvPr>
        </p:nvPicPr>
        <p:blipFill>
          <a:blip r:embed="rId2"/>
          <a:srcRect l="13664" t="21075" r="26569" b="20860"/>
          <a:stretch>
            <a:fillRect/>
          </a:stretch>
        </p:blipFill>
        <p:spPr>
          <a:xfrm>
            <a:off x="6850453" y="2467895"/>
            <a:ext cx="4857136" cy="3320845"/>
          </a:xfrm>
        </p:spPr>
      </p:pic>
      <p:sp>
        <p:nvSpPr>
          <p:cNvPr id="4" name="Text Placeholder 3">
            <a:extLst>
              <a:ext uri="{FF2B5EF4-FFF2-40B4-BE49-F238E27FC236}">
                <a16:creationId xmlns:a16="http://schemas.microsoft.com/office/drawing/2014/main" id="{086D5CB1-0432-D372-7BEF-F2337C4996C9}"/>
              </a:ext>
            </a:extLst>
          </p:cNvPr>
          <p:cNvSpPr>
            <a:spLocks noGrp="1"/>
          </p:cNvSpPr>
          <p:nvPr>
            <p:ph type="body" sz="half" idx="2"/>
          </p:nvPr>
        </p:nvSpPr>
        <p:spPr>
          <a:xfrm>
            <a:off x="685800" y="2971799"/>
            <a:ext cx="6164653" cy="2701413"/>
          </a:xfrm>
        </p:spPr>
        <p:txBody>
          <a:bodyPr>
            <a:normAutofit/>
          </a:bodyPr>
          <a:lstStyle/>
          <a:p>
            <a:pPr>
              <a:lnSpc>
                <a:spcPct val="150000"/>
              </a:lnSpc>
            </a:pPr>
            <a:r>
              <a:rPr lang="en-US" sz="2000" b="1" dirty="0"/>
              <a:t>Bar Chart: </a:t>
            </a:r>
            <a:r>
              <a:rPr lang="en-US" sz="2000" dirty="0"/>
              <a:t>Analyzes customer payment preferences.</a:t>
            </a:r>
          </a:p>
          <a:p>
            <a:pPr>
              <a:lnSpc>
                <a:spcPct val="150000"/>
              </a:lnSpc>
            </a:pPr>
            <a:r>
              <a:rPr lang="en-US" sz="2000" b="1" dirty="0"/>
              <a:t>X-Axis: </a:t>
            </a:r>
            <a:r>
              <a:rPr lang="en-US" sz="2000" dirty="0"/>
              <a:t>Payment Method (Debit Card, Credit Card, UPI, Cash on Delivery)</a:t>
            </a:r>
          </a:p>
          <a:p>
            <a:pPr>
              <a:lnSpc>
                <a:spcPct val="150000"/>
              </a:lnSpc>
            </a:pPr>
            <a:r>
              <a:rPr lang="en-US" sz="2000" b="1" dirty="0"/>
              <a:t>Y-Axis: </a:t>
            </a:r>
            <a:r>
              <a:rPr lang="en-US" sz="2000" dirty="0"/>
              <a:t>Number of Orders</a:t>
            </a:r>
          </a:p>
          <a:p>
            <a:endParaRPr lang="en-IN" dirty="0"/>
          </a:p>
        </p:txBody>
      </p:sp>
    </p:spTree>
    <p:extLst>
      <p:ext uri="{BB962C8B-B14F-4D97-AF65-F5344CB8AC3E}">
        <p14:creationId xmlns:p14="http://schemas.microsoft.com/office/powerpoint/2010/main" val="31594687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D219F-FC69-993D-123F-AC461522E3C3}"/>
              </a:ext>
            </a:extLst>
          </p:cNvPr>
          <p:cNvSpPr>
            <a:spLocks noGrp="1"/>
          </p:cNvSpPr>
          <p:nvPr>
            <p:ph type="title"/>
          </p:nvPr>
        </p:nvSpPr>
        <p:spPr/>
        <p:txBody>
          <a:bodyPr/>
          <a:lstStyle/>
          <a:p>
            <a:r>
              <a:rPr lang="en-IN" b="1" dirty="0">
                <a:solidFill>
                  <a:schemeClr val="accent6"/>
                </a:solidFill>
              </a:rPr>
              <a:t>conclusion</a:t>
            </a:r>
          </a:p>
        </p:txBody>
      </p:sp>
      <p:sp>
        <p:nvSpPr>
          <p:cNvPr id="3" name="Content Placeholder 2">
            <a:extLst>
              <a:ext uri="{FF2B5EF4-FFF2-40B4-BE49-F238E27FC236}">
                <a16:creationId xmlns:a16="http://schemas.microsoft.com/office/drawing/2014/main" id="{9F238E68-9F8A-506E-29B3-EE0470482069}"/>
              </a:ext>
            </a:extLst>
          </p:cNvPr>
          <p:cNvSpPr>
            <a:spLocks noGrp="1"/>
          </p:cNvSpPr>
          <p:nvPr>
            <p:ph idx="1"/>
          </p:nvPr>
        </p:nvSpPr>
        <p:spPr/>
        <p:txBody>
          <a:bodyPr>
            <a:normAutofit lnSpcReduction="10000"/>
          </a:bodyPr>
          <a:lstStyle/>
          <a:p>
            <a:pPr>
              <a:lnSpc>
                <a:spcPct val="150000"/>
              </a:lnSpc>
            </a:pPr>
            <a:r>
              <a:rPr lang="en-US" sz="2000" dirty="0"/>
              <a:t>The Amazon Sales Dashboard In Power BI Provides A Comprehensive View Of Sales Trends, Product Performance, And Regional Insights, Enabling Data-driven Decisions And Optimized Business Strategies.</a:t>
            </a:r>
          </a:p>
          <a:p>
            <a:pPr>
              <a:lnSpc>
                <a:spcPct val="150000"/>
              </a:lnSpc>
            </a:pPr>
            <a:r>
              <a:rPr lang="en-US" sz="2000" dirty="0"/>
              <a:t>The Amazon Sales Analysis provides a clear understanding of sales performance across products, categories, and regions.</a:t>
            </a:r>
          </a:p>
          <a:p>
            <a:pPr>
              <a:lnSpc>
                <a:spcPct val="150000"/>
              </a:lnSpc>
            </a:pPr>
            <a:r>
              <a:rPr lang="en-US" sz="2000" dirty="0"/>
              <a:t>This analysis equips decision-makers with data-driven insights to improve sales strategy, inventory management, and overall business performance.</a:t>
            </a:r>
          </a:p>
          <a:p>
            <a:endParaRPr lang="en-IN" dirty="0"/>
          </a:p>
        </p:txBody>
      </p:sp>
    </p:spTree>
    <p:extLst>
      <p:ext uri="{BB962C8B-B14F-4D97-AF65-F5344CB8AC3E}">
        <p14:creationId xmlns:p14="http://schemas.microsoft.com/office/powerpoint/2010/main" val="6631081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40E3D-88EA-04C2-5883-D32AE36BA941}"/>
              </a:ext>
            </a:extLst>
          </p:cNvPr>
          <p:cNvSpPr>
            <a:spLocks noGrp="1"/>
          </p:cNvSpPr>
          <p:nvPr>
            <p:ph type="title"/>
          </p:nvPr>
        </p:nvSpPr>
        <p:spPr>
          <a:xfrm>
            <a:off x="685801" y="1995055"/>
            <a:ext cx="10661072" cy="3065319"/>
          </a:xfrm>
        </p:spPr>
        <p:txBody>
          <a:bodyPr>
            <a:normAutofit/>
          </a:bodyPr>
          <a:lstStyle/>
          <a:p>
            <a:pPr algn="ctr"/>
            <a:r>
              <a:rPr lang="en-IN" b="1" dirty="0"/>
              <a:t>Thank you</a:t>
            </a:r>
          </a:p>
        </p:txBody>
      </p:sp>
    </p:spTree>
    <p:extLst>
      <p:ext uri="{BB962C8B-B14F-4D97-AF65-F5344CB8AC3E}">
        <p14:creationId xmlns:p14="http://schemas.microsoft.com/office/powerpoint/2010/main" val="416446769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TM03457444[[fn=Basis]]</Template>
  <TotalTime>1648</TotalTime>
  <Words>932</Words>
  <Application>Microsoft Office PowerPoint</Application>
  <PresentationFormat>Widescreen</PresentationFormat>
  <Paragraphs>113</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Arial</vt:lpstr>
      <vt:lpstr>Calibri</vt:lpstr>
      <vt:lpstr>Calibri Light</vt:lpstr>
      <vt:lpstr>Wingdings</vt:lpstr>
      <vt:lpstr>Celestial</vt:lpstr>
      <vt:lpstr>Amazon sales analysis</vt:lpstr>
      <vt:lpstr>introduction</vt:lpstr>
      <vt:lpstr>Problem statement</vt:lpstr>
      <vt:lpstr>questions</vt:lpstr>
      <vt:lpstr>Data overview</vt:lpstr>
      <vt:lpstr>Technology used</vt:lpstr>
      <vt:lpstr>Data preprocessing</vt:lpstr>
      <vt:lpstr>Key metrics and kpi’ s</vt:lpstr>
      <vt:lpstr>Dax Measures used</vt:lpstr>
      <vt:lpstr>Power bi dashboard overview</vt:lpstr>
      <vt:lpstr>overall sales trend analysis</vt:lpstr>
      <vt:lpstr>Top selling category based on sales</vt:lpstr>
      <vt:lpstr>Identify Top 10 products by sales</vt:lpstr>
      <vt:lpstr>Identify  orders by each city</vt:lpstr>
      <vt:lpstr>Analyse city-wise sales trend</vt:lpstr>
      <vt:lpstr>Month over month analysis</vt:lpstr>
      <vt:lpstr>Identify orders based on payment method</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tamilbharathi r</dc:creator>
  <cp:lastModifiedBy>tamilbharathi r</cp:lastModifiedBy>
  <cp:revision>12</cp:revision>
  <dcterms:created xsi:type="dcterms:W3CDTF">2026-01-25T05:39:00Z</dcterms:created>
  <dcterms:modified xsi:type="dcterms:W3CDTF">2026-02-05T13:49:06Z</dcterms:modified>
</cp:coreProperties>
</file>